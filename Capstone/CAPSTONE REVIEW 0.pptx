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77" r:id="rId4"/>
    <p:sldId id="280" r:id="rId5"/>
    <p:sldId id="278" r:id="rId6"/>
    <p:sldId id="261" r:id="rId7"/>
    <p:sldId id="258" r:id="rId8"/>
    <p:sldId id="268"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548" autoAdjust="0"/>
    <p:restoredTop sz="94660"/>
  </p:normalViewPr>
  <p:slideViewPr>
    <p:cSldViewPr snapToGrid="0" snapToObjects="1">
      <p:cViewPr varScale="1">
        <p:scale>
          <a:sx n="89" d="100"/>
          <a:sy n="89" d="100"/>
        </p:scale>
        <p:origin x="302" y="72"/>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hyperlink" Target="https://portal.findresearcher.sdu.dk/en/publications/students-performance-prediction-employing-decision-tree/?utm_source=chatgpt.com" TargetMode="Externa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hyperlink" Target="https://link.springer.com/article/10.1007/s10639-024-12619-w?utm_source=chatgpt.com" TargetMode="External"/><Relationship Id="rId5" Type="http://schemas.openxmlformats.org/officeDocument/2006/relationships/hyperlink" Target="https://www.nature.com/articles/s41598-022-15880-6?utm_source=chatgpt.com" TargetMode="External"/><Relationship Id="rId4" Type="http://schemas.openxmlformats.org/officeDocument/2006/relationships/hyperlink" Target="https://link.springer.com/article/10.1186/s40561-022-00192-z?utm_source=chatgpt.com"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24910" y="1445016"/>
            <a:ext cx="10363200" cy="1470025"/>
          </a:xfrm>
        </p:spPr>
        <p:txBody>
          <a:bodyPr>
            <a:noAutofit/>
          </a:bodyPr>
          <a:lstStyle/>
          <a:p>
            <a:pPr fontAlgn="ctr"/>
            <a:r>
              <a:rPr lang="en-IN" sz="3600" b="1" dirty="0" err="1">
                <a:latin typeface="Times New Roman" panose="02020603050405020304" pitchFamily="18" charset="0"/>
                <a:cs typeface="Times New Roman" panose="02020603050405020304" pitchFamily="18" charset="0"/>
              </a:rPr>
              <a:t>SkillLens</a:t>
            </a:r>
            <a:r>
              <a:rPr lang="en-IN" sz="3600" b="1" dirty="0">
                <a:latin typeface="Times New Roman" panose="02020603050405020304" pitchFamily="18" charset="0"/>
                <a:cs typeface="Times New Roman" panose="02020603050405020304" pitchFamily="18" charset="0"/>
              </a:rPr>
              <a:t>: Student Placement Intelligence System Using Data Warehousing and Data Mining</a:t>
            </a:r>
          </a:p>
        </p:txBody>
      </p:sp>
      <p:sp>
        <p:nvSpPr>
          <p:cNvPr id="3" name="Subtitle 2"/>
          <p:cNvSpPr>
            <a:spLocks noGrp="1"/>
          </p:cNvSpPr>
          <p:nvPr>
            <p:ph type="subTitle" idx="1"/>
          </p:nvPr>
        </p:nvSpPr>
        <p:spPr>
          <a:xfrm>
            <a:off x="1043896" y="4028413"/>
            <a:ext cx="4114701" cy="2570957"/>
          </a:xfrm>
        </p:spPr>
        <p:txBody>
          <a:bodyPr>
            <a:noAutofit/>
          </a:bodyPr>
          <a:lstStyle/>
          <a:p>
            <a:pPr algn="l"/>
            <a:r>
              <a:rPr sz="1800" b="1" dirty="0">
                <a:solidFill>
                  <a:srgbClr val="FF0000"/>
                </a:solidFill>
                <a:latin typeface="Times New Roman" panose="02020603050405020304" pitchFamily="18" charset="0"/>
                <a:cs typeface="Times New Roman" panose="02020603050405020304" pitchFamily="18" charset="0"/>
              </a:rPr>
              <a:t>Presented by: </a:t>
            </a:r>
            <a:r>
              <a:rPr lang="en-US" sz="1800" b="1" dirty="0">
                <a:solidFill>
                  <a:srgbClr val="FF0000"/>
                </a:solidFill>
                <a:latin typeface="Times New Roman" panose="02020603050405020304" pitchFamily="18" charset="0"/>
                <a:cs typeface="Times New Roman" panose="02020603050405020304" pitchFamily="18" charset="0"/>
              </a:rPr>
              <a:t>                                                                     </a:t>
            </a:r>
          </a:p>
          <a:p>
            <a:pPr algn="l"/>
            <a:r>
              <a:rPr lang="en-IN" sz="1800" b="1" dirty="0">
                <a:solidFill>
                  <a:srgbClr val="0070C0"/>
                </a:solidFill>
                <a:latin typeface="Times New Roman" panose="02020603050405020304" pitchFamily="18" charset="0"/>
                <a:cs typeface="Times New Roman" panose="02020603050405020304" pitchFamily="18" charset="0"/>
              </a:rPr>
              <a:t>HARESH KUMAR N L </a:t>
            </a:r>
            <a:r>
              <a:rPr lang="en-IN" sz="1800" b="1" dirty="0">
                <a:solidFill>
                  <a:schemeClr val="accent2"/>
                </a:solidFill>
                <a:latin typeface="Times New Roman" panose="02020603050405020304" pitchFamily="18" charset="0"/>
                <a:cs typeface="Times New Roman" panose="02020603050405020304" pitchFamily="18" charset="0"/>
              </a:rPr>
              <a:t>– </a:t>
            </a:r>
            <a:r>
              <a:rPr lang="en-IN" sz="1800" b="1" dirty="0">
                <a:solidFill>
                  <a:srgbClr val="FF0000"/>
                </a:solidFill>
                <a:latin typeface="Times New Roman" panose="02020603050405020304" pitchFamily="18" charset="0"/>
                <a:cs typeface="Times New Roman" panose="02020603050405020304" pitchFamily="18" charset="0"/>
              </a:rPr>
              <a:t>192425009</a:t>
            </a:r>
          </a:p>
          <a:p>
            <a:pPr algn="l"/>
            <a:r>
              <a:rPr lang="en-IN" sz="1800" b="1" dirty="0">
                <a:solidFill>
                  <a:srgbClr val="0070C0"/>
                </a:solidFill>
                <a:latin typeface="Times New Roman" panose="02020603050405020304" pitchFamily="18" charset="0"/>
                <a:cs typeface="Times New Roman" panose="02020603050405020304" pitchFamily="18" charset="0"/>
              </a:rPr>
              <a:t>AJAY I </a:t>
            </a:r>
            <a:r>
              <a:rPr lang="en-IN" sz="1800" b="1" dirty="0">
                <a:solidFill>
                  <a:schemeClr val="accent2"/>
                </a:solidFill>
                <a:latin typeface="Times New Roman" panose="02020603050405020304" pitchFamily="18" charset="0"/>
                <a:cs typeface="Times New Roman" panose="02020603050405020304" pitchFamily="18" charset="0"/>
              </a:rPr>
              <a:t>– </a:t>
            </a:r>
            <a:r>
              <a:rPr lang="en-IN" sz="1800" b="1" dirty="0">
                <a:solidFill>
                  <a:srgbClr val="FF0000"/>
                </a:solidFill>
                <a:latin typeface="Times New Roman" panose="02020603050405020304" pitchFamily="18" charset="0"/>
                <a:cs typeface="Times New Roman" panose="02020603050405020304" pitchFamily="18" charset="0"/>
              </a:rPr>
              <a:t>192421147</a:t>
            </a:r>
          </a:p>
          <a:p>
            <a:pPr algn="l"/>
            <a:r>
              <a:rPr lang="en-IN" sz="1800" b="1" dirty="0">
                <a:solidFill>
                  <a:srgbClr val="0070C0"/>
                </a:solidFill>
                <a:latin typeface="Times New Roman" panose="02020603050405020304" pitchFamily="18" charset="0"/>
                <a:cs typeface="Times New Roman" panose="02020603050405020304" pitchFamily="18" charset="0"/>
              </a:rPr>
              <a:t>SAKTHI KAILASH T </a:t>
            </a:r>
            <a:r>
              <a:rPr lang="en-IN" sz="1800" b="1" dirty="0">
                <a:solidFill>
                  <a:schemeClr val="accent2"/>
                </a:solidFill>
                <a:latin typeface="Times New Roman" panose="02020603050405020304" pitchFamily="18" charset="0"/>
                <a:cs typeface="Times New Roman" panose="02020603050405020304" pitchFamily="18" charset="0"/>
              </a:rPr>
              <a:t>– </a:t>
            </a:r>
            <a:r>
              <a:rPr lang="en-IN" sz="1800" b="1" dirty="0">
                <a:solidFill>
                  <a:srgbClr val="FF0000"/>
                </a:solidFill>
                <a:latin typeface="Times New Roman" panose="02020603050405020304" pitchFamily="18" charset="0"/>
                <a:cs typeface="Times New Roman" panose="02020603050405020304" pitchFamily="18" charset="0"/>
              </a:rPr>
              <a:t>192411068</a:t>
            </a:r>
          </a:p>
        </p:txBody>
      </p:sp>
      <p:pic>
        <p:nvPicPr>
          <p:cNvPr id="5" name="Picture 4"/>
          <p:cNvPicPr/>
          <p:nvPr/>
        </p:nvPicPr>
        <p:blipFill>
          <a:blip r:embed="rId2" cstate="print">
            <a:extLst>
              <a:ext uri="{28A0092B-C50C-407E-A947-70E740481C1C}">
                <a14:useLocalDpi xmlns:a14="http://schemas.microsoft.com/office/drawing/2010/main" val="0"/>
              </a:ext>
            </a:extLst>
          </a:blip>
          <a:srcRect/>
          <a:stretch>
            <a:fillRect/>
          </a:stretch>
        </p:blipFill>
        <p:spPr>
          <a:xfrm>
            <a:off x="357352" y="191626"/>
            <a:ext cx="1135117" cy="1342884"/>
          </a:xfrm>
          <a:prstGeom prst="rect">
            <a:avLst/>
          </a:prstGeom>
          <a:noFill/>
        </p:spPr>
      </p:pic>
      <p:pic>
        <p:nvPicPr>
          <p:cNvPr id="6" name="Picture 5"/>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191626"/>
            <a:ext cx="1520114" cy="1342884"/>
          </a:xfrm>
          <a:prstGeom prst="rect">
            <a:avLst/>
          </a:prstGeom>
          <a:noFill/>
          <a:ln>
            <a:noFill/>
          </a:ln>
        </p:spPr>
      </p:pic>
      <p:sp>
        <p:nvSpPr>
          <p:cNvPr id="4" name="TextBox 3">
            <a:extLst>
              <a:ext uri="{FF2B5EF4-FFF2-40B4-BE49-F238E27FC236}">
                <a16:creationId xmlns:a16="http://schemas.microsoft.com/office/drawing/2014/main" id="{F863E993-DEE3-4481-B822-EA4B1C996A8E}"/>
              </a:ext>
            </a:extLst>
          </p:cNvPr>
          <p:cNvSpPr txBox="1"/>
          <p:nvPr/>
        </p:nvSpPr>
        <p:spPr>
          <a:xfrm>
            <a:off x="0" y="3162591"/>
            <a:ext cx="12192000" cy="523220"/>
          </a:xfrm>
          <a:prstGeom prst="rect">
            <a:avLst/>
          </a:prstGeom>
          <a:noFill/>
        </p:spPr>
        <p:txBody>
          <a:bodyPr wrap="square" rtlCol="0">
            <a:spAutoFit/>
          </a:bodyPr>
          <a:lstStyle/>
          <a:p>
            <a:pPr algn="ctr"/>
            <a:r>
              <a:rPr lang="en-US" sz="2800" dirty="0">
                <a:latin typeface="Times New Roman" panose="02020603050405020304" pitchFamily="18" charset="0"/>
                <a:cs typeface="Times New Roman" panose="02020603050405020304" pitchFamily="18" charset="0"/>
              </a:rPr>
              <a:t>CSA1606 – Data Warehousing and Data Mining</a:t>
            </a:r>
            <a:endParaRPr lang="en-IN" sz="2800" dirty="0">
              <a:latin typeface="Times New Roman" panose="02020603050405020304" pitchFamily="18" charset="0"/>
              <a:cs typeface="Times New Roman" panose="02020603050405020304" pitchFamily="18" charset="0"/>
            </a:endParaRPr>
          </a:p>
        </p:txBody>
      </p:sp>
      <p:sp>
        <p:nvSpPr>
          <p:cNvPr id="7" name="Subtitle 2">
            <a:extLst>
              <a:ext uri="{FF2B5EF4-FFF2-40B4-BE49-F238E27FC236}">
                <a16:creationId xmlns:a16="http://schemas.microsoft.com/office/drawing/2014/main" id="{0BE08850-32DE-C800-DB9F-E38F4EDB3B6D}"/>
              </a:ext>
            </a:extLst>
          </p:cNvPr>
          <p:cNvSpPr txBox="1">
            <a:spLocks/>
          </p:cNvSpPr>
          <p:nvPr/>
        </p:nvSpPr>
        <p:spPr>
          <a:xfrm>
            <a:off x="8872436" y="4146843"/>
            <a:ext cx="1641795" cy="988265"/>
          </a:xfrm>
          <a:prstGeom prst="rect">
            <a:avLst/>
          </a:prstGeom>
        </p:spPr>
        <p:txBody>
          <a:bodyPr vert="horz" lIns="91440" tIns="45720" rIns="91440" bIns="45720" rtlCol="0">
            <a:no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gn="l"/>
            <a:r>
              <a:rPr lang="en-US" sz="1800" b="1" dirty="0">
                <a:solidFill>
                  <a:srgbClr val="FF0000"/>
                </a:solidFill>
                <a:latin typeface="Times New Roman" panose="02020603050405020304" pitchFamily="18" charset="0"/>
                <a:cs typeface="Times New Roman" panose="02020603050405020304" pitchFamily="18" charset="0"/>
              </a:rPr>
              <a:t>Guided by:                                                                      </a:t>
            </a:r>
          </a:p>
          <a:p>
            <a:pPr algn="l"/>
            <a:r>
              <a:rPr lang="en-US" sz="1800" b="1" dirty="0">
                <a:solidFill>
                  <a:srgbClr val="0070C0"/>
                </a:solidFill>
                <a:latin typeface="Times New Roman" panose="02020603050405020304" pitchFamily="18" charset="0"/>
                <a:cs typeface="Times New Roman" panose="02020603050405020304" pitchFamily="18" charset="0"/>
              </a:rPr>
              <a:t>Dr Renuga S</a:t>
            </a:r>
            <a:endParaRPr lang="en-US" sz="1800" b="1"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4000" b="1" dirty="0">
                <a:latin typeface="Times New Roman" panose="02020603050405020304" pitchFamily="18" charset="0"/>
                <a:cs typeface="Times New Roman" panose="02020603050405020304" pitchFamily="18" charset="0"/>
              </a:rPr>
              <a:t>INTRODUCTION</a:t>
            </a:r>
          </a:p>
        </p:txBody>
      </p:sp>
      <p:pic>
        <p:nvPicPr>
          <p:cNvPr id="4" name="Picture 3"/>
          <p:cNvPicPr/>
          <p:nvPr/>
        </p:nvPicPr>
        <p:blipFill>
          <a:blip r:embed="rId2" cstate="print">
            <a:extLst>
              <a:ext uri="{28A0092B-C50C-407E-A947-70E740481C1C}">
                <a14:useLocalDpi xmlns:a14="http://schemas.microsoft.com/office/drawing/2010/main" val="0"/>
              </a:ext>
            </a:extLst>
          </a:blip>
          <a:srcRect/>
          <a:stretch>
            <a:fillRect/>
          </a:stretch>
        </p:blipFill>
        <p:spPr>
          <a:xfrm>
            <a:off x="357352" y="74754"/>
            <a:ext cx="1135117" cy="1342884"/>
          </a:xfrm>
          <a:prstGeom prst="rect">
            <a:avLst/>
          </a:prstGeom>
          <a:noFill/>
        </p:spPr>
      </p:pic>
      <p:pic>
        <p:nvPicPr>
          <p:cNvPr id="5" name="Picture 4"/>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79078"/>
            <a:ext cx="1520114" cy="1342884"/>
          </a:xfrm>
          <a:prstGeom prst="rect">
            <a:avLst/>
          </a:prstGeom>
          <a:noFill/>
          <a:ln>
            <a:noFill/>
          </a:ln>
        </p:spPr>
      </p:pic>
      <p:sp>
        <p:nvSpPr>
          <p:cNvPr id="7" name="Rectangle 2">
            <a:extLst>
              <a:ext uri="{FF2B5EF4-FFF2-40B4-BE49-F238E27FC236}">
                <a16:creationId xmlns:a16="http://schemas.microsoft.com/office/drawing/2014/main" id="{3F5620E0-EBA5-456E-851F-19C81EF4A016}"/>
              </a:ext>
            </a:extLst>
          </p:cNvPr>
          <p:cNvSpPr>
            <a:spLocks noGrp="1" noChangeArrowheads="1"/>
          </p:cNvSpPr>
          <p:nvPr>
            <p:ph idx="1"/>
          </p:nvPr>
        </p:nvSpPr>
        <p:spPr bwMode="auto">
          <a:xfrm>
            <a:off x="483476" y="1613198"/>
            <a:ext cx="11225048" cy="46351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AU" sz="1800" b="1" dirty="0">
                <a:solidFill>
                  <a:srgbClr val="C00000"/>
                </a:solidFill>
                <a:latin typeface="Times New Roman" panose="02020603050405020304" pitchFamily="18" charset="0"/>
                <a:cs typeface="Times New Roman" panose="02020603050405020304" pitchFamily="18" charset="0"/>
              </a:rPr>
              <a:t>Overview of the Project</a:t>
            </a:r>
          </a:p>
          <a:p>
            <a:pPr lvl="0"/>
            <a:r>
              <a:rPr lang="en-IN" sz="1800" dirty="0">
                <a:latin typeface="Times New Roman" panose="02020603050405020304" pitchFamily="18" charset="0"/>
                <a:cs typeface="Times New Roman" panose="02020603050405020304" pitchFamily="18" charset="0"/>
              </a:rPr>
              <a:t>Educational institutions generate large volumes of academic, skill, internship, and placement data every year. </a:t>
            </a:r>
          </a:p>
          <a:p>
            <a:pPr lvl="0"/>
            <a:r>
              <a:rPr lang="en-IN" sz="1800" dirty="0">
                <a:latin typeface="Times New Roman" panose="02020603050405020304" pitchFamily="18" charset="0"/>
                <a:cs typeface="Times New Roman" panose="02020603050405020304" pitchFamily="18" charset="0"/>
              </a:rPr>
              <a:t>These data sources are often stored separately, making analysis and decision-making difficult. </a:t>
            </a:r>
          </a:p>
          <a:p>
            <a:pPr lvl="0"/>
            <a:r>
              <a:rPr lang="en-IN" sz="1800" dirty="0">
                <a:latin typeface="Times New Roman" panose="02020603050405020304" pitchFamily="18" charset="0"/>
                <a:cs typeface="Times New Roman" panose="02020603050405020304" pitchFamily="18" charset="0"/>
              </a:rPr>
              <a:t>This project develops a centralized </a:t>
            </a:r>
            <a:r>
              <a:rPr lang="en-IN" sz="1800" b="1" dirty="0">
                <a:latin typeface="Times New Roman" panose="02020603050405020304" pitchFamily="18" charset="0"/>
                <a:cs typeface="Times New Roman" panose="02020603050405020304" pitchFamily="18" charset="0"/>
              </a:rPr>
              <a:t>Data Warehouse</a:t>
            </a:r>
            <a:r>
              <a:rPr lang="en-IN" sz="1800" dirty="0">
                <a:latin typeface="Times New Roman" panose="02020603050405020304" pitchFamily="18" charset="0"/>
                <a:cs typeface="Times New Roman" panose="02020603050405020304" pitchFamily="18" charset="0"/>
              </a:rPr>
              <a:t> to integrate student information from multiple sources. </a:t>
            </a:r>
          </a:p>
          <a:p>
            <a:pPr lvl="0"/>
            <a:r>
              <a:rPr lang="en-IN" sz="1800" dirty="0">
                <a:latin typeface="Times New Roman" panose="02020603050405020304" pitchFamily="18" charset="0"/>
                <a:cs typeface="Times New Roman" panose="02020603050405020304" pitchFamily="18" charset="0"/>
              </a:rPr>
              <a:t>Data Mining techniques are applied to discover hidden patterns, predict placement outcomes, and </a:t>
            </a:r>
            <a:r>
              <a:rPr lang="en-IN" sz="1800" dirty="0" err="1">
                <a:latin typeface="Times New Roman" panose="02020603050405020304" pitchFamily="18" charset="0"/>
                <a:cs typeface="Times New Roman" panose="02020603050405020304" pitchFamily="18" charset="0"/>
              </a:rPr>
              <a:t>analyze</a:t>
            </a:r>
            <a:r>
              <a:rPr lang="en-IN" sz="1800" dirty="0">
                <a:latin typeface="Times New Roman" panose="02020603050405020304" pitchFamily="18" charset="0"/>
                <a:cs typeface="Times New Roman" panose="02020603050405020304" pitchFamily="18" charset="0"/>
              </a:rPr>
              <a:t> factors influencing employability. </a:t>
            </a:r>
          </a:p>
          <a:p>
            <a:pPr lvl="0"/>
            <a:r>
              <a:rPr lang="en-IN" sz="1800" dirty="0">
                <a:latin typeface="Times New Roman" panose="02020603050405020304" pitchFamily="18" charset="0"/>
                <a:cs typeface="Times New Roman" panose="02020603050405020304" pitchFamily="18" charset="0"/>
              </a:rPr>
              <a:t>Interactive dashboards built in </a:t>
            </a:r>
            <a:r>
              <a:rPr lang="en-IN" sz="1800" b="1" dirty="0">
                <a:latin typeface="Times New Roman" panose="02020603050405020304" pitchFamily="18" charset="0"/>
                <a:cs typeface="Times New Roman" panose="02020603050405020304" pitchFamily="18" charset="0"/>
              </a:rPr>
              <a:t>Power BI</a:t>
            </a:r>
            <a:r>
              <a:rPr lang="en-IN" sz="1800" dirty="0">
                <a:latin typeface="Times New Roman" panose="02020603050405020304" pitchFamily="18" charset="0"/>
                <a:cs typeface="Times New Roman" panose="02020603050405020304" pitchFamily="18" charset="0"/>
              </a:rPr>
              <a:t> provide meaningful insights to students, faculty, and placement officers.</a:t>
            </a:r>
          </a:p>
          <a:p>
            <a:pPr marL="0" lvl="0" indent="0">
              <a:buNone/>
            </a:pPr>
            <a:endParaRPr lang="en-IN" sz="1800" dirty="0"/>
          </a:p>
          <a:p>
            <a:pPr marL="0" indent="0">
              <a:buNone/>
            </a:pPr>
            <a:r>
              <a:rPr lang="en-AU" sz="1800" b="1" dirty="0">
                <a:solidFill>
                  <a:srgbClr val="C00000"/>
                </a:solidFill>
                <a:latin typeface="Times New Roman" panose="02020603050405020304" pitchFamily="18" charset="0"/>
                <a:cs typeface="Times New Roman" panose="02020603050405020304" pitchFamily="18" charset="0"/>
              </a:rPr>
              <a:t>Purpose of the Project</a:t>
            </a:r>
          </a:p>
          <a:p>
            <a:pPr lvl="0"/>
            <a:r>
              <a:rPr lang="en-IN" sz="1800" dirty="0">
                <a:latin typeface="Times New Roman" panose="02020603050405020304" pitchFamily="18" charset="0"/>
                <a:cs typeface="Times New Roman" panose="02020603050405020304" pitchFamily="18" charset="0"/>
              </a:rPr>
              <a:t>Develop a centralized Student Placement Data Warehouse. </a:t>
            </a:r>
          </a:p>
          <a:p>
            <a:pPr lvl="0"/>
            <a:r>
              <a:rPr lang="en-IN" sz="1800" dirty="0" err="1">
                <a:latin typeface="Times New Roman" panose="02020603050405020304" pitchFamily="18" charset="0"/>
                <a:cs typeface="Times New Roman" panose="02020603050405020304" pitchFamily="18" charset="0"/>
              </a:rPr>
              <a:t>Analyze</a:t>
            </a:r>
            <a:r>
              <a:rPr lang="en-IN" sz="1800" dirty="0">
                <a:latin typeface="Times New Roman" panose="02020603050405020304" pitchFamily="18" charset="0"/>
                <a:cs typeface="Times New Roman" panose="02020603050405020304" pitchFamily="18" charset="0"/>
              </a:rPr>
              <a:t> academic and skill-based performance using Data Mining techniques. </a:t>
            </a:r>
          </a:p>
          <a:p>
            <a:pPr lvl="0"/>
            <a:r>
              <a:rPr lang="en-IN" sz="1800" dirty="0">
                <a:latin typeface="Times New Roman" panose="02020603050405020304" pitchFamily="18" charset="0"/>
                <a:cs typeface="Times New Roman" panose="02020603050405020304" pitchFamily="18" charset="0"/>
              </a:rPr>
              <a:t>Predict placement opportunities using Machine Learning. </a:t>
            </a:r>
          </a:p>
          <a:p>
            <a:pPr lvl="0"/>
            <a:r>
              <a:rPr lang="en-IN" sz="1800" dirty="0">
                <a:latin typeface="Times New Roman" panose="02020603050405020304" pitchFamily="18" charset="0"/>
                <a:cs typeface="Times New Roman" panose="02020603050405020304" pitchFamily="18" charset="0"/>
              </a:rPr>
              <a:t>Support placement cells in making data-driven decisions. </a:t>
            </a:r>
          </a:p>
          <a:p>
            <a:pPr lvl="0"/>
            <a:r>
              <a:rPr lang="en-IN" sz="1800" dirty="0">
                <a:latin typeface="Times New Roman" panose="02020603050405020304" pitchFamily="18" charset="0"/>
                <a:cs typeface="Times New Roman" panose="02020603050405020304" pitchFamily="18" charset="0"/>
              </a:rPr>
              <a:t>Visualize placement trends through interactive Power BI dashboards.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746BA0-17E2-92E2-830C-9563FBF914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732B3E-CAD0-2436-F7F0-BC474264C62B}"/>
              </a:ext>
            </a:extLst>
          </p:cNvPr>
          <p:cNvSpPr>
            <a:spLocks noGrp="1"/>
          </p:cNvSpPr>
          <p:nvPr>
            <p:ph type="title"/>
          </p:nvPr>
        </p:nvSpPr>
        <p:spPr/>
        <p:txBody>
          <a:bodyPr>
            <a:normAutofit/>
          </a:bodyPr>
          <a:lstStyle/>
          <a:p>
            <a:r>
              <a:rPr lang="en-IN" sz="4000" b="1" dirty="0">
                <a:latin typeface="Times New Roman" panose="02020603050405020304" pitchFamily="18" charset="0"/>
                <a:cs typeface="Times New Roman" panose="02020603050405020304" pitchFamily="18" charset="0"/>
              </a:rPr>
              <a:t>OBJECTIVE</a:t>
            </a:r>
            <a:endParaRPr lang="en-AU" sz="40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154B3DE-2265-ED55-AC51-231A8FDF178A}"/>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357352" y="191626"/>
            <a:ext cx="1135117" cy="1342884"/>
          </a:xfrm>
          <a:prstGeom prst="rect">
            <a:avLst/>
          </a:prstGeom>
          <a:noFill/>
        </p:spPr>
      </p:pic>
      <p:pic>
        <p:nvPicPr>
          <p:cNvPr id="5" name="Picture 4">
            <a:extLst>
              <a:ext uri="{FF2B5EF4-FFF2-40B4-BE49-F238E27FC236}">
                <a16:creationId xmlns:a16="http://schemas.microsoft.com/office/drawing/2014/main" id="{DC3C2B24-DEF2-6E42-FF8B-3CFAED0172A7}"/>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191626"/>
            <a:ext cx="1520114" cy="1342884"/>
          </a:xfrm>
          <a:prstGeom prst="rect">
            <a:avLst/>
          </a:prstGeom>
          <a:noFill/>
          <a:ln>
            <a:noFill/>
          </a:ln>
        </p:spPr>
      </p:pic>
      <p:sp>
        <p:nvSpPr>
          <p:cNvPr id="7" name="Rectangle 2">
            <a:extLst>
              <a:ext uri="{FF2B5EF4-FFF2-40B4-BE49-F238E27FC236}">
                <a16:creationId xmlns:a16="http://schemas.microsoft.com/office/drawing/2014/main" id="{9573C98B-9EB3-4E1F-D469-038FA60CA74B}"/>
              </a:ext>
            </a:extLst>
          </p:cNvPr>
          <p:cNvSpPr>
            <a:spLocks noGrp="1" noChangeArrowheads="1"/>
          </p:cNvSpPr>
          <p:nvPr>
            <p:ph idx="1"/>
          </p:nvPr>
        </p:nvSpPr>
        <p:spPr bwMode="auto">
          <a:xfrm>
            <a:off x="357352" y="1555920"/>
            <a:ext cx="11225048" cy="4955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AU" sz="2000" b="1" dirty="0">
                <a:solidFill>
                  <a:srgbClr val="C00000"/>
                </a:solidFill>
                <a:latin typeface="Times New Roman" panose="02020603050405020304" pitchFamily="18" charset="0"/>
                <a:cs typeface="Times New Roman" panose="02020603050405020304" pitchFamily="18" charset="0"/>
              </a:rPr>
              <a:t>Goals:</a:t>
            </a:r>
            <a:endParaRPr lang="en-AU" sz="2000" dirty="0">
              <a:solidFill>
                <a:srgbClr val="C00000"/>
              </a:solidFill>
              <a:latin typeface="Times New Roman" panose="02020603050405020304" pitchFamily="18" charset="0"/>
              <a:cs typeface="Times New Roman" panose="02020603050405020304" pitchFamily="18" charset="0"/>
            </a:endParaRPr>
          </a:p>
          <a:p>
            <a:pPr lvl="0"/>
            <a:r>
              <a:rPr lang="en-IN" sz="2000" dirty="0">
                <a:latin typeface="Times New Roman" panose="02020603050405020304" pitchFamily="18" charset="0"/>
                <a:cs typeface="Times New Roman" panose="02020603050405020304" pitchFamily="18" charset="0"/>
              </a:rPr>
              <a:t>Build a centralized Data Warehouse using ETL processes. </a:t>
            </a:r>
          </a:p>
          <a:p>
            <a:pPr lvl="0"/>
            <a:r>
              <a:rPr lang="en-IN" sz="2000" dirty="0">
                <a:latin typeface="Times New Roman" panose="02020603050405020304" pitchFamily="18" charset="0"/>
                <a:cs typeface="Times New Roman" panose="02020603050405020304" pitchFamily="18" charset="0"/>
              </a:rPr>
              <a:t>Design a Star Schema for efficient analytical processing. </a:t>
            </a:r>
          </a:p>
          <a:p>
            <a:pPr lvl="0"/>
            <a:r>
              <a:rPr lang="en-IN" sz="2000" dirty="0">
                <a:latin typeface="Times New Roman" panose="02020603050405020304" pitchFamily="18" charset="0"/>
                <a:cs typeface="Times New Roman" panose="02020603050405020304" pitchFamily="18" charset="0"/>
              </a:rPr>
              <a:t>Predict student placement status using Decision Tree Classification. </a:t>
            </a:r>
          </a:p>
          <a:p>
            <a:pPr lvl="0"/>
            <a:r>
              <a:rPr lang="en-IN" sz="2000" dirty="0">
                <a:latin typeface="Times New Roman" panose="02020603050405020304" pitchFamily="18" charset="0"/>
                <a:cs typeface="Times New Roman" panose="02020603050405020304" pitchFamily="18" charset="0"/>
              </a:rPr>
              <a:t>Group students with similar placement potential using K-Means Clustering. </a:t>
            </a:r>
          </a:p>
          <a:p>
            <a:pPr lvl="0"/>
            <a:r>
              <a:rPr lang="en-IN" sz="2000" dirty="0">
                <a:latin typeface="Times New Roman" panose="02020603050405020304" pitchFamily="18" charset="0"/>
                <a:cs typeface="Times New Roman" panose="02020603050405020304" pitchFamily="18" charset="0"/>
              </a:rPr>
              <a:t>Discover relationships between student attributes using </a:t>
            </a:r>
            <a:r>
              <a:rPr lang="en-IN" sz="2000" dirty="0" err="1">
                <a:latin typeface="Times New Roman" panose="02020603050405020304" pitchFamily="18" charset="0"/>
                <a:cs typeface="Times New Roman" panose="02020603050405020304" pitchFamily="18" charset="0"/>
              </a:rPr>
              <a:t>Apriori</a:t>
            </a:r>
            <a:r>
              <a:rPr lang="en-IN" sz="2000" dirty="0">
                <a:latin typeface="Times New Roman" panose="02020603050405020304" pitchFamily="18" charset="0"/>
                <a:cs typeface="Times New Roman" panose="02020603050405020304" pitchFamily="18" charset="0"/>
              </a:rPr>
              <a:t> Association Rule Mining. </a:t>
            </a:r>
          </a:p>
          <a:p>
            <a:pPr lvl="0"/>
            <a:r>
              <a:rPr lang="en-IN" sz="2000" dirty="0">
                <a:latin typeface="Times New Roman" panose="02020603050405020304" pitchFamily="18" charset="0"/>
                <a:cs typeface="Times New Roman" panose="02020603050405020304" pitchFamily="18" charset="0"/>
              </a:rPr>
              <a:t>Develop interactive Power BI dashboards for placement analysis.</a:t>
            </a:r>
          </a:p>
          <a:p>
            <a:pPr marL="0" lvl="0" indent="0">
              <a:buNone/>
            </a:pPr>
            <a:endParaRPr lang="en-IN" sz="2000" dirty="0">
              <a:latin typeface="Times New Roman" panose="02020603050405020304" pitchFamily="18" charset="0"/>
              <a:cs typeface="Times New Roman" panose="02020603050405020304" pitchFamily="18" charset="0"/>
            </a:endParaRPr>
          </a:p>
          <a:p>
            <a:pPr marL="0" indent="0">
              <a:buNone/>
            </a:pPr>
            <a:r>
              <a:rPr lang="en-AU" sz="2000" b="1" dirty="0">
                <a:solidFill>
                  <a:srgbClr val="C00000"/>
                </a:solidFill>
                <a:latin typeface="Times New Roman" panose="02020603050405020304" pitchFamily="18" charset="0"/>
                <a:cs typeface="Times New Roman" panose="02020603050405020304" pitchFamily="18" charset="0"/>
              </a:rPr>
              <a:t>Problem Statement:</a:t>
            </a:r>
          </a:p>
          <a:p>
            <a:pPr algn="just"/>
            <a:r>
              <a:rPr lang="en-IN" sz="2000" dirty="0">
                <a:latin typeface="Times New Roman" panose="02020603050405020304" pitchFamily="18" charset="0"/>
                <a:cs typeface="Times New Roman" panose="02020603050405020304" pitchFamily="18" charset="0"/>
              </a:rPr>
              <a:t>Educational institutions collect large volumes of placement-related data, but the information is often fragmented across multiple systems. This makes it difficult to identify placement trends, evaluate student performance, and predict employability. An integrated Data Warehousing and Data Mining solution is required to transform raw student data into meaningful insights that support academic planning and placement decisions.</a:t>
            </a:r>
          </a:p>
        </p:txBody>
      </p:sp>
    </p:spTree>
    <p:extLst>
      <p:ext uri="{BB962C8B-B14F-4D97-AF65-F5344CB8AC3E}">
        <p14:creationId xmlns:p14="http://schemas.microsoft.com/office/powerpoint/2010/main" val="141932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85D8DE-6A16-3EE6-9DA5-36DD496A9D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EF9B8C-8DE0-6950-5F62-7E196AD35B9D}"/>
              </a:ext>
            </a:extLst>
          </p:cNvPr>
          <p:cNvSpPr>
            <a:spLocks noGrp="1"/>
          </p:cNvSpPr>
          <p:nvPr>
            <p:ph type="title"/>
          </p:nvPr>
        </p:nvSpPr>
        <p:spPr/>
        <p:txBody>
          <a:bodyPr>
            <a:normAutofit/>
          </a:bodyPr>
          <a:lstStyle/>
          <a:p>
            <a:endParaRPr lang="en-AU" sz="40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520C8596-671A-C3BD-1ED5-027F131AEAE9}"/>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357352" y="191626"/>
            <a:ext cx="1135117" cy="1342884"/>
          </a:xfrm>
          <a:prstGeom prst="rect">
            <a:avLst/>
          </a:prstGeom>
          <a:noFill/>
        </p:spPr>
      </p:pic>
      <p:pic>
        <p:nvPicPr>
          <p:cNvPr id="5" name="Picture 4">
            <a:extLst>
              <a:ext uri="{FF2B5EF4-FFF2-40B4-BE49-F238E27FC236}">
                <a16:creationId xmlns:a16="http://schemas.microsoft.com/office/drawing/2014/main" id="{12764C30-447A-17D1-0D8E-F66BFD135A13}"/>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191626"/>
            <a:ext cx="1520114" cy="1342884"/>
          </a:xfrm>
          <a:prstGeom prst="rect">
            <a:avLst/>
          </a:prstGeom>
          <a:noFill/>
          <a:ln>
            <a:noFill/>
          </a:ln>
        </p:spPr>
      </p:pic>
      <p:sp>
        <p:nvSpPr>
          <p:cNvPr id="7" name="Rectangle 2">
            <a:extLst>
              <a:ext uri="{FF2B5EF4-FFF2-40B4-BE49-F238E27FC236}">
                <a16:creationId xmlns:a16="http://schemas.microsoft.com/office/drawing/2014/main" id="{1361954D-CD48-B9A7-9DE9-19B27F9AF728}"/>
              </a:ext>
            </a:extLst>
          </p:cNvPr>
          <p:cNvSpPr>
            <a:spLocks noGrp="1" noChangeArrowheads="1"/>
          </p:cNvSpPr>
          <p:nvPr>
            <p:ph idx="1"/>
          </p:nvPr>
        </p:nvSpPr>
        <p:spPr bwMode="auto">
          <a:xfrm>
            <a:off x="357352" y="2120949"/>
            <a:ext cx="11225048" cy="26161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a:buNone/>
            </a:pPr>
            <a:r>
              <a:rPr lang="en-AU" sz="2000" b="1" dirty="0">
                <a:solidFill>
                  <a:srgbClr val="C00000"/>
                </a:solidFill>
                <a:latin typeface="Times New Roman" panose="02020603050405020304" pitchFamily="18" charset="0"/>
                <a:cs typeface="Times New Roman" panose="02020603050405020304" pitchFamily="18" charset="0"/>
              </a:rPr>
              <a:t>Expected Outcomes:</a:t>
            </a:r>
            <a:endParaRPr lang="en-AU" sz="2000" dirty="0">
              <a:solidFill>
                <a:srgbClr val="C00000"/>
              </a:solidFill>
              <a:latin typeface="Times New Roman" panose="02020603050405020304" pitchFamily="18" charset="0"/>
              <a:cs typeface="Times New Roman" panose="02020603050405020304" pitchFamily="18" charset="0"/>
            </a:endParaRPr>
          </a:p>
          <a:p>
            <a:pPr lvl="0"/>
            <a:r>
              <a:rPr lang="en-IN" sz="2000" dirty="0">
                <a:latin typeface="Times New Roman" panose="02020603050405020304" pitchFamily="18" charset="0"/>
                <a:cs typeface="Times New Roman" panose="02020603050405020304" pitchFamily="18" charset="0"/>
              </a:rPr>
              <a:t>Centralized Student Placement Data Warehouse. </a:t>
            </a:r>
          </a:p>
          <a:p>
            <a:pPr lvl="0"/>
            <a:r>
              <a:rPr lang="en-IN" sz="2000" dirty="0">
                <a:latin typeface="Times New Roman" panose="02020603050405020304" pitchFamily="18" charset="0"/>
                <a:cs typeface="Times New Roman" panose="02020603050405020304" pitchFamily="18" charset="0"/>
              </a:rPr>
              <a:t>Accurate placement prediction model. </a:t>
            </a:r>
          </a:p>
          <a:p>
            <a:pPr lvl="0"/>
            <a:r>
              <a:rPr lang="en-IN" sz="2000" dirty="0">
                <a:latin typeface="Times New Roman" panose="02020603050405020304" pitchFamily="18" charset="0"/>
                <a:cs typeface="Times New Roman" panose="02020603050405020304" pitchFamily="18" charset="0"/>
              </a:rPr>
              <a:t>Student segmentation based on placement readiness. </a:t>
            </a:r>
          </a:p>
          <a:p>
            <a:pPr lvl="0"/>
            <a:r>
              <a:rPr lang="en-IN" sz="2000" dirty="0">
                <a:latin typeface="Times New Roman" panose="02020603050405020304" pitchFamily="18" charset="0"/>
                <a:cs typeface="Times New Roman" panose="02020603050405020304" pitchFamily="18" charset="0"/>
              </a:rPr>
              <a:t>Identification of factors influencing placement. </a:t>
            </a:r>
          </a:p>
          <a:p>
            <a:pPr lvl="0"/>
            <a:r>
              <a:rPr lang="en-IN" sz="2000" dirty="0">
                <a:latin typeface="Times New Roman" panose="02020603050405020304" pitchFamily="18" charset="0"/>
                <a:cs typeface="Times New Roman" panose="02020603050405020304" pitchFamily="18" charset="0"/>
              </a:rPr>
              <a:t>Interactive Power BI dashboards for real-time analysis. </a:t>
            </a:r>
          </a:p>
          <a:p>
            <a:pPr lvl="0"/>
            <a:r>
              <a:rPr lang="en-IN" sz="2000" dirty="0">
                <a:latin typeface="Times New Roman" panose="02020603050405020304" pitchFamily="18" charset="0"/>
                <a:cs typeface="Times New Roman" panose="02020603050405020304" pitchFamily="18" charset="0"/>
              </a:rPr>
              <a:t>Improved decision-making for students and placement coordinators.</a:t>
            </a:r>
          </a:p>
        </p:txBody>
      </p:sp>
    </p:spTree>
    <p:extLst>
      <p:ext uri="{BB962C8B-B14F-4D97-AF65-F5344CB8AC3E}">
        <p14:creationId xmlns:p14="http://schemas.microsoft.com/office/powerpoint/2010/main" val="35891786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660F1-B0F1-AFB8-018B-876C417306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036384-F87D-714B-6804-2018C613B94C}"/>
              </a:ext>
            </a:extLst>
          </p:cNvPr>
          <p:cNvSpPr>
            <a:spLocks noGrp="1"/>
          </p:cNvSpPr>
          <p:nvPr>
            <p:ph type="title"/>
          </p:nvPr>
        </p:nvSpPr>
        <p:spPr/>
        <p:txBody>
          <a:bodyPr>
            <a:normAutofit/>
          </a:bodyPr>
          <a:lstStyle/>
          <a:p>
            <a:r>
              <a:rPr lang="en-IN" sz="4000" b="1" dirty="0">
                <a:latin typeface="Times New Roman" panose="02020603050405020304" pitchFamily="18" charset="0"/>
                <a:cs typeface="Times New Roman" panose="02020603050405020304" pitchFamily="18" charset="0"/>
              </a:rPr>
              <a:t>LITERATURE REVIEW</a:t>
            </a:r>
            <a:endParaRPr lang="en-AU" sz="40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3CD7AB7-9BD5-111D-DCA0-7075B6FFDA25}"/>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357352" y="191626"/>
            <a:ext cx="1135117" cy="1342884"/>
          </a:xfrm>
          <a:prstGeom prst="rect">
            <a:avLst/>
          </a:prstGeom>
          <a:noFill/>
        </p:spPr>
      </p:pic>
      <p:pic>
        <p:nvPicPr>
          <p:cNvPr id="5" name="Picture 4">
            <a:extLst>
              <a:ext uri="{FF2B5EF4-FFF2-40B4-BE49-F238E27FC236}">
                <a16:creationId xmlns:a16="http://schemas.microsoft.com/office/drawing/2014/main" id="{28E01732-844D-6344-3FEB-0C7F0A499D9A}"/>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191626"/>
            <a:ext cx="1520114" cy="1342884"/>
          </a:xfrm>
          <a:prstGeom prst="rect">
            <a:avLst/>
          </a:prstGeom>
          <a:noFill/>
          <a:ln>
            <a:noFill/>
          </a:ln>
        </p:spPr>
      </p:pic>
      <p:graphicFrame>
        <p:nvGraphicFramePr>
          <p:cNvPr id="3" name="Table 2">
            <a:extLst>
              <a:ext uri="{FF2B5EF4-FFF2-40B4-BE49-F238E27FC236}">
                <a16:creationId xmlns:a16="http://schemas.microsoft.com/office/drawing/2014/main" id="{941BB978-EB6B-4E61-5E52-AF73D0ED0BB2}"/>
              </a:ext>
            </a:extLst>
          </p:cNvPr>
          <p:cNvGraphicFramePr>
            <a:graphicFrameLocks noGrp="1"/>
          </p:cNvGraphicFramePr>
          <p:nvPr>
            <p:extLst>
              <p:ext uri="{D42A27DB-BD31-4B8C-83A1-F6EECF244321}">
                <p14:modId xmlns:p14="http://schemas.microsoft.com/office/powerpoint/2010/main" val="3028676308"/>
              </p:ext>
            </p:extLst>
          </p:nvPr>
        </p:nvGraphicFramePr>
        <p:xfrm>
          <a:off x="1932317" y="1492023"/>
          <a:ext cx="8581916" cy="4943283"/>
        </p:xfrm>
        <a:graphic>
          <a:graphicData uri="http://schemas.openxmlformats.org/drawingml/2006/table">
            <a:tbl>
              <a:tblPr firstRow="1">
                <a:tableStyleId>{3C2FFA5D-87B4-456A-9821-1D502468CF0F}</a:tableStyleId>
              </a:tblPr>
              <a:tblGrid>
                <a:gridCol w="2145479">
                  <a:extLst>
                    <a:ext uri="{9D8B030D-6E8A-4147-A177-3AD203B41FA5}">
                      <a16:colId xmlns:a16="http://schemas.microsoft.com/office/drawing/2014/main" val="3111123048"/>
                    </a:ext>
                  </a:extLst>
                </a:gridCol>
                <a:gridCol w="2145479">
                  <a:extLst>
                    <a:ext uri="{9D8B030D-6E8A-4147-A177-3AD203B41FA5}">
                      <a16:colId xmlns:a16="http://schemas.microsoft.com/office/drawing/2014/main" val="2241641922"/>
                    </a:ext>
                  </a:extLst>
                </a:gridCol>
                <a:gridCol w="2145479">
                  <a:extLst>
                    <a:ext uri="{9D8B030D-6E8A-4147-A177-3AD203B41FA5}">
                      <a16:colId xmlns:a16="http://schemas.microsoft.com/office/drawing/2014/main" val="2033728693"/>
                    </a:ext>
                  </a:extLst>
                </a:gridCol>
                <a:gridCol w="2145479">
                  <a:extLst>
                    <a:ext uri="{9D8B030D-6E8A-4147-A177-3AD203B41FA5}">
                      <a16:colId xmlns:a16="http://schemas.microsoft.com/office/drawing/2014/main" val="839107579"/>
                    </a:ext>
                  </a:extLst>
                </a:gridCol>
              </a:tblGrid>
              <a:tr h="383956">
                <a:tc>
                  <a:txBody>
                    <a:bodyPr/>
                    <a:lstStyle/>
                    <a:p>
                      <a:pPr>
                        <a:buNone/>
                      </a:pPr>
                      <a:r>
                        <a:rPr lang="en-IN" sz="1000" b="1"/>
                        <a:t>Author(s) &amp; Year</a:t>
                      </a:r>
                      <a:endParaRPr lang="en-IN" sz="1000"/>
                    </a:p>
                  </a:txBody>
                  <a:tcPr marL="50288" marR="50288" marT="25144" marB="25144" anchor="ctr"/>
                </a:tc>
                <a:tc>
                  <a:txBody>
                    <a:bodyPr/>
                    <a:lstStyle/>
                    <a:p>
                      <a:pPr>
                        <a:buNone/>
                      </a:pPr>
                      <a:r>
                        <a:rPr lang="en-IN" sz="1000" b="1"/>
                        <a:t>Methodology</a:t>
                      </a:r>
                      <a:endParaRPr lang="en-IN" sz="1000"/>
                    </a:p>
                  </a:txBody>
                  <a:tcPr marL="50288" marR="50288" marT="25144" marB="25144" anchor="ctr"/>
                </a:tc>
                <a:tc>
                  <a:txBody>
                    <a:bodyPr/>
                    <a:lstStyle/>
                    <a:p>
                      <a:pPr>
                        <a:buNone/>
                      </a:pPr>
                      <a:r>
                        <a:rPr lang="en-IN" sz="1000" b="1"/>
                        <a:t>Key Findings</a:t>
                      </a:r>
                      <a:endParaRPr lang="en-IN" sz="1000"/>
                    </a:p>
                  </a:txBody>
                  <a:tcPr marL="50288" marR="50288" marT="25144" marB="25144" anchor="ctr"/>
                </a:tc>
                <a:tc>
                  <a:txBody>
                    <a:bodyPr/>
                    <a:lstStyle/>
                    <a:p>
                      <a:pPr>
                        <a:buNone/>
                      </a:pPr>
                      <a:r>
                        <a:rPr lang="en-IN" sz="1000" b="1"/>
                        <a:t>Research Gap / Contribution</a:t>
                      </a:r>
                      <a:endParaRPr lang="en-IN" sz="1000"/>
                    </a:p>
                  </a:txBody>
                  <a:tcPr marL="50288" marR="50288" marT="25144" marB="25144" anchor="ctr"/>
                </a:tc>
                <a:extLst>
                  <a:ext uri="{0D108BD9-81ED-4DB2-BD59-A6C34878D82A}">
                    <a16:rowId xmlns:a16="http://schemas.microsoft.com/office/drawing/2014/main" val="712875361"/>
                  </a:ext>
                </a:extLst>
              </a:tr>
              <a:tr h="1042169">
                <a:tc>
                  <a:txBody>
                    <a:bodyPr/>
                    <a:lstStyle/>
                    <a:p>
                      <a:pPr>
                        <a:buNone/>
                      </a:pPr>
                      <a:r>
                        <a:rPr lang="en-IN" sz="1000" b="1"/>
                        <a:t>Yağcı (2022)</a:t>
                      </a:r>
                      <a:endParaRPr lang="en-IN" sz="1000"/>
                    </a:p>
                  </a:txBody>
                  <a:tcPr marL="50288" marR="50288" marT="25144" marB="25144" anchor="ctr"/>
                </a:tc>
                <a:tc>
                  <a:txBody>
                    <a:bodyPr/>
                    <a:lstStyle/>
                    <a:p>
                      <a:pPr>
                        <a:buNone/>
                      </a:pPr>
                      <a:r>
                        <a:rPr lang="en-IN" sz="1000"/>
                        <a:t>Educational Data Mining using Machine Learning</a:t>
                      </a:r>
                    </a:p>
                  </a:txBody>
                  <a:tcPr marL="50288" marR="50288" marT="25144" marB="25144" anchor="ctr"/>
                </a:tc>
                <a:tc>
                  <a:txBody>
                    <a:bodyPr/>
                    <a:lstStyle/>
                    <a:p>
                      <a:pPr>
                        <a:buNone/>
                      </a:pPr>
                      <a:r>
                        <a:rPr lang="en-IN" sz="1000" dirty="0"/>
                        <a:t>Demonstrated that machine learning models effectively predict student academic performance using educational datasets.</a:t>
                      </a:r>
                    </a:p>
                  </a:txBody>
                  <a:tcPr marL="50288" marR="50288" marT="25144" marB="25144" anchor="ctr"/>
                </a:tc>
                <a:tc>
                  <a:txBody>
                    <a:bodyPr/>
                    <a:lstStyle/>
                    <a:p>
                      <a:pPr>
                        <a:buNone/>
                      </a:pPr>
                      <a:r>
                        <a:rPr lang="en-IN" sz="1000"/>
                        <a:t>Focused on academic performance prediction; did not integrate data warehousing or business intelligence dashboards. (</a:t>
                      </a:r>
                      <a:r>
                        <a:rPr lang="en-IN" sz="1000">
                          <a:hlinkClick r:id="rId4" tooltip="Educational data mining: prediction of students' academic performance using machine learning algorithms | Smart Learning Environments | Springer Nature Link"/>
                        </a:rPr>
                        <a:t>Springer</a:t>
                      </a:r>
                      <a:r>
                        <a:rPr lang="en-IN" sz="1000"/>
                        <a:t>)</a:t>
                      </a:r>
                    </a:p>
                  </a:txBody>
                  <a:tcPr marL="50288" marR="50288" marT="25144" marB="25144" anchor="ctr"/>
                </a:tc>
                <a:extLst>
                  <a:ext uri="{0D108BD9-81ED-4DB2-BD59-A6C34878D82A}">
                    <a16:rowId xmlns:a16="http://schemas.microsoft.com/office/drawing/2014/main" val="4197345550"/>
                  </a:ext>
                </a:extLst>
              </a:tr>
              <a:tr h="713063">
                <a:tc>
                  <a:txBody>
                    <a:bodyPr/>
                    <a:lstStyle/>
                    <a:p>
                      <a:pPr>
                        <a:buNone/>
                      </a:pPr>
                      <a:r>
                        <a:rPr lang="en-IN" sz="1000" b="1"/>
                        <a:t>Bilal et al. (2022)</a:t>
                      </a:r>
                      <a:endParaRPr lang="en-IN" sz="1000"/>
                    </a:p>
                  </a:txBody>
                  <a:tcPr marL="50288" marR="50288" marT="25144" marB="25144" anchor="ctr"/>
                </a:tc>
                <a:tc>
                  <a:txBody>
                    <a:bodyPr/>
                    <a:lstStyle/>
                    <a:p>
                      <a:pPr>
                        <a:buNone/>
                      </a:pPr>
                      <a:r>
                        <a:rPr lang="en-IN" sz="1000"/>
                        <a:t>Feature Analysis with Machine Learning</a:t>
                      </a:r>
                    </a:p>
                  </a:txBody>
                  <a:tcPr marL="50288" marR="50288" marT="25144" marB="25144" anchor="ctr"/>
                </a:tc>
                <a:tc>
                  <a:txBody>
                    <a:bodyPr/>
                    <a:lstStyle/>
                    <a:p>
                      <a:pPr>
                        <a:buNone/>
                      </a:pPr>
                      <a:r>
                        <a:rPr lang="en-IN" sz="1000"/>
                        <a:t>Showed that demographic and academic attributes significantly influence prediction accuracy.</a:t>
                      </a:r>
                    </a:p>
                  </a:txBody>
                  <a:tcPr marL="50288" marR="50288" marT="25144" marB="25144" anchor="ctr"/>
                </a:tc>
                <a:tc>
                  <a:txBody>
                    <a:bodyPr/>
                    <a:lstStyle/>
                    <a:p>
                      <a:pPr>
                        <a:buNone/>
                      </a:pPr>
                      <a:r>
                        <a:rPr lang="en-IN" sz="1000"/>
                        <a:t>Did not include placement analytics or visualization using Power BI. (</a:t>
                      </a:r>
                      <a:r>
                        <a:rPr lang="en-IN" sz="1000">
                          <a:hlinkClick r:id="rId5" tooltip="The role of demographic and academic features in a student performance prediction | Scientific Reports"/>
                        </a:rPr>
                        <a:t>Nature</a:t>
                      </a:r>
                      <a:r>
                        <a:rPr lang="en-IN" sz="1000"/>
                        <a:t>)</a:t>
                      </a:r>
                    </a:p>
                  </a:txBody>
                  <a:tcPr marL="50288" marR="50288" marT="25144" marB="25144" anchor="ctr"/>
                </a:tc>
                <a:extLst>
                  <a:ext uri="{0D108BD9-81ED-4DB2-BD59-A6C34878D82A}">
                    <a16:rowId xmlns:a16="http://schemas.microsoft.com/office/drawing/2014/main" val="1836635641"/>
                  </a:ext>
                </a:extLst>
              </a:tr>
              <a:tr h="719757">
                <a:tc>
                  <a:txBody>
                    <a:bodyPr/>
                    <a:lstStyle/>
                    <a:p>
                      <a:pPr>
                        <a:buNone/>
                      </a:pPr>
                      <a:r>
                        <a:rPr lang="en-IN" sz="1000" b="1"/>
                        <a:t>Khairy et al. (2024)</a:t>
                      </a:r>
                      <a:endParaRPr lang="en-IN" sz="1000"/>
                    </a:p>
                  </a:txBody>
                  <a:tcPr marL="50288" marR="50288" marT="25144" marB="25144" anchor="ctr"/>
                </a:tc>
                <a:tc>
                  <a:txBody>
                    <a:bodyPr/>
                    <a:lstStyle/>
                    <a:p>
                      <a:pPr>
                        <a:buNone/>
                      </a:pPr>
                      <a:r>
                        <a:rPr lang="en-IN" sz="1000"/>
                        <a:t>Classification Algorithms (Decision Tree, Random Forest, Naïve Bayes, KNN, Neural Networks)</a:t>
                      </a:r>
                    </a:p>
                  </a:txBody>
                  <a:tcPr marL="50288" marR="50288" marT="25144" marB="25144" anchor="ctr"/>
                </a:tc>
                <a:tc>
                  <a:txBody>
                    <a:bodyPr/>
                    <a:lstStyle/>
                    <a:p>
                      <a:pPr>
                        <a:buNone/>
                      </a:pPr>
                      <a:r>
                        <a:rPr lang="en-IN" sz="1000"/>
                        <a:t>Random Forest and Decision Tree achieved high accuracy in predicting student performance.</a:t>
                      </a:r>
                    </a:p>
                  </a:txBody>
                  <a:tcPr marL="50288" marR="50288" marT="25144" marB="25144" anchor="ctr"/>
                </a:tc>
                <a:tc>
                  <a:txBody>
                    <a:bodyPr/>
                    <a:lstStyle/>
                    <a:p>
                      <a:pPr>
                        <a:buNone/>
                      </a:pPr>
                      <a:r>
                        <a:rPr lang="en-IN" sz="1000"/>
                        <a:t>Focused on examination performance rather than employability or placement prediction. (</a:t>
                      </a:r>
                      <a:r>
                        <a:rPr lang="en-IN" sz="1000">
                          <a:hlinkClick r:id="rId6" tooltip="Prediction of student exam performance using data mining classification algorithms | Education and Information Technologies | Springer Nature Link"/>
                        </a:rPr>
                        <a:t>Springer</a:t>
                      </a:r>
                      <a:r>
                        <a:rPr lang="en-IN" sz="1000"/>
                        <a:t>)</a:t>
                      </a:r>
                    </a:p>
                  </a:txBody>
                  <a:tcPr marL="50288" marR="50288" marT="25144" marB="25144" anchor="ctr"/>
                </a:tc>
                <a:extLst>
                  <a:ext uri="{0D108BD9-81ED-4DB2-BD59-A6C34878D82A}">
                    <a16:rowId xmlns:a16="http://schemas.microsoft.com/office/drawing/2014/main" val="2941572291"/>
                  </a:ext>
                </a:extLst>
              </a:tr>
              <a:tr h="877616">
                <a:tc>
                  <a:txBody>
                    <a:bodyPr/>
                    <a:lstStyle/>
                    <a:p>
                      <a:pPr>
                        <a:buNone/>
                      </a:pPr>
                      <a:r>
                        <a:rPr lang="en-IN" sz="1000" b="1"/>
                        <a:t>Ahmed et al. (2024)</a:t>
                      </a:r>
                      <a:endParaRPr lang="en-IN" sz="1000"/>
                    </a:p>
                  </a:txBody>
                  <a:tcPr marL="50288" marR="50288" marT="25144" marB="25144" anchor="ctr"/>
                </a:tc>
                <a:tc>
                  <a:txBody>
                    <a:bodyPr/>
                    <a:lstStyle/>
                    <a:p>
                      <a:pPr>
                        <a:buNone/>
                      </a:pPr>
                      <a:r>
                        <a:rPr lang="en-IN" sz="1000"/>
                        <a:t>Decision Tree-based Educational Data Mining</a:t>
                      </a:r>
                    </a:p>
                  </a:txBody>
                  <a:tcPr marL="50288" marR="50288" marT="25144" marB="25144" anchor="ctr"/>
                </a:tc>
                <a:tc>
                  <a:txBody>
                    <a:bodyPr/>
                    <a:lstStyle/>
                    <a:p>
                      <a:pPr>
                        <a:buNone/>
                      </a:pPr>
                      <a:r>
                        <a:rPr lang="en-IN" sz="1000"/>
                        <a:t>Decision Tree effectively identified influential academic and demographic factors affecting student outcomes.</a:t>
                      </a:r>
                    </a:p>
                  </a:txBody>
                  <a:tcPr marL="50288" marR="50288" marT="25144" marB="25144" anchor="ctr"/>
                </a:tc>
                <a:tc>
                  <a:txBody>
                    <a:bodyPr/>
                    <a:lstStyle/>
                    <a:p>
                      <a:pPr>
                        <a:buNone/>
                      </a:pPr>
                      <a:r>
                        <a:rPr lang="en-IN" sz="1000"/>
                        <a:t>Does not provide an integrated Data Warehouse, ETL process, or interactive reporting. (</a:t>
                      </a:r>
                      <a:r>
                        <a:rPr lang="en-IN" sz="1000">
                          <a:hlinkClick r:id="rId7" tooltip="Students' performance prediction employing Decision Tree - University of Southern Denmark"/>
                        </a:rPr>
                        <a:t>Syddansk Universitet</a:t>
                      </a:r>
                      <a:r>
                        <a:rPr lang="en-IN" sz="1000"/>
                        <a:t>)</a:t>
                      </a:r>
                    </a:p>
                  </a:txBody>
                  <a:tcPr marL="50288" marR="50288" marT="25144" marB="25144" anchor="ctr"/>
                </a:tc>
                <a:extLst>
                  <a:ext uri="{0D108BD9-81ED-4DB2-BD59-A6C34878D82A}">
                    <a16:rowId xmlns:a16="http://schemas.microsoft.com/office/drawing/2014/main" val="1191265675"/>
                  </a:ext>
                </a:extLst>
              </a:tr>
              <a:tr h="1206722">
                <a:tc>
                  <a:txBody>
                    <a:bodyPr/>
                    <a:lstStyle/>
                    <a:p>
                      <a:pPr>
                        <a:buNone/>
                      </a:pPr>
                      <a:r>
                        <a:rPr lang="en-IN" sz="1000" b="1"/>
                        <a:t>Proposed System (2026)</a:t>
                      </a:r>
                      <a:endParaRPr lang="en-IN" sz="1000"/>
                    </a:p>
                  </a:txBody>
                  <a:tcPr marL="50288" marR="50288" marT="25144" marB="25144" anchor="ctr"/>
                </a:tc>
                <a:tc>
                  <a:txBody>
                    <a:bodyPr/>
                    <a:lstStyle/>
                    <a:p>
                      <a:pPr>
                        <a:buNone/>
                      </a:pPr>
                      <a:r>
                        <a:rPr lang="en-IN" sz="1000" b="1"/>
                        <a:t>ETL + Data Warehouse + Decision Tree + K-Means + Apriori + Power BI</a:t>
                      </a:r>
                      <a:endParaRPr lang="en-IN" sz="1000"/>
                    </a:p>
                  </a:txBody>
                  <a:tcPr marL="50288" marR="50288" marT="25144" marB="25144" anchor="ctr"/>
                </a:tc>
                <a:tc>
                  <a:txBody>
                    <a:bodyPr/>
                    <a:lstStyle/>
                    <a:p>
                      <a:pPr>
                        <a:buNone/>
                      </a:pPr>
                      <a:r>
                        <a:rPr lang="en-IN" sz="1000"/>
                        <a:t>Integrates data warehousing, data mining, and business intelligence for student placement prediction and analytics.</a:t>
                      </a:r>
                    </a:p>
                  </a:txBody>
                  <a:tcPr marL="50288" marR="50288" marT="25144" marB="25144" anchor="ctr"/>
                </a:tc>
                <a:tc>
                  <a:txBody>
                    <a:bodyPr/>
                    <a:lstStyle/>
                    <a:p>
                      <a:pPr>
                        <a:buNone/>
                      </a:pPr>
                      <a:r>
                        <a:rPr lang="en-IN" sz="1000" dirty="0"/>
                        <a:t>Provides an end-to-end decision support system with centralized storage, predictive analytics, clustering, association rules, and interactive dashboards.</a:t>
                      </a:r>
                    </a:p>
                  </a:txBody>
                  <a:tcPr marL="50288" marR="50288" marT="25144" marB="25144" anchor="ctr"/>
                </a:tc>
                <a:extLst>
                  <a:ext uri="{0D108BD9-81ED-4DB2-BD59-A6C34878D82A}">
                    <a16:rowId xmlns:a16="http://schemas.microsoft.com/office/drawing/2014/main" val="3003872772"/>
                  </a:ext>
                </a:extLst>
              </a:tr>
            </a:tbl>
          </a:graphicData>
        </a:graphic>
      </p:graphicFrame>
    </p:spTree>
    <p:extLst>
      <p:ext uri="{BB962C8B-B14F-4D97-AF65-F5344CB8AC3E}">
        <p14:creationId xmlns:p14="http://schemas.microsoft.com/office/powerpoint/2010/main" val="7180477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a:bodyPr>
          <a:lstStyle/>
          <a:p>
            <a:pPr>
              <a:lnSpc>
                <a:spcPct val="120000"/>
              </a:lnSpc>
            </a:pPr>
            <a:r>
              <a:rPr lang="en-AU" sz="4000" b="1" dirty="0">
                <a:latin typeface="Times New Roman" panose="02020603050405020304" pitchFamily="18" charset="0"/>
                <a:cs typeface="Times New Roman" panose="02020603050405020304" pitchFamily="18" charset="0"/>
              </a:rPr>
              <a:t>ARCHITECTURE DIAGRAM</a:t>
            </a:r>
          </a:p>
        </p:txBody>
      </p:sp>
      <p:pic>
        <p:nvPicPr>
          <p:cNvPr id="4" name="Picture 3"/>
          <p:cNvPicPr/>
          <p:nvPr/>
        </p:nvPicPr>
        <p:blipFill>
          <a:blip r:embed="rId2" cstate="print">
            <a:extLst>
              <a:ext uri="{28A0092B-C50C-407E-A947-70E740481C1C}">
                <a14:useLocalDpi xmlns:a14="http://schemas.microsoft.com/office/drawing/2010/main" val="0"/>
              </a:ext>
            </a:extLst>
          </a:blip>
          <a:srcRect/>
          <a:stretch>
            <a:fillRect/>
          </a:stretch>
        </p:blipFill>
        <p:spPr>
          <a:xfrm>
            <a:off x="357352" y="191626"/>
            <a:ext cx="1135117" cy="1342884"/>
          </a:xfrm>
          <a:prstGeom prst="rect">
            <a:avLst/>
          </a:prstGeom>
          <a:noFill/>
        </p:spPr>
      </p:pic>
      <p:pic>
        <p:nvPicPr>
          <p:cNvPr id="5" name="Picture 4"/>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191626"/>
            <a:ext cx="1520114" cy="1342884"/>
          </a:xfrm>
          <a:prstGeom prst="rect">
            <a:avLst/>
          </a:prstGeom>
          <a:noFill/>
          <a:ln>
            <a:noFill/>
          </a:ln>
        </p:spPr>
      </p:pic>
      <p:pic>
        <p:nvPicPr>
          <p:cNvPr id="6" name="Picture 5">
            <a:extLst>
              <a:ext uri="{FF2B5EF4-FFF2-40B4-BE49-F238E27FC236}">
                <a16:creationId xmlns:a16="http://schemas.microsoft.com/office/drawing/2014/main" id="{A7126532-6C59-CDBD-D573-31C6F300BB52}"/>
              </a:ext>
            </a:extLst>
          </p:cNvPr>
          <p:cNvPicPr>
            <a:picLocks noChangeAspect="1"/>
          </p:cNvPicPr>
          <p:nvPr/>
        </p:nvPicPr>
        <p:blipFill>
          <a:blip r:embed="rId4"/>
          <a:srcRect t="13221"/>
          <a:stretch>
            <a:fillRect/>
          </a:stretch>
        </p:blipFill>
        <p:spPr>
          <a:xfrm>
            <a:off x="1744716" y="1302587"/>
            <a:ext cx="9228083" cy="533869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LIST OF MODULES</a:t>
            </a:r>
          </a:p>
        </p:txBody>
      </p:sp>
      <p:sp>
        <p:nvSpPr>
          <p:cNvPr id="3" name="Content Placeholder 2"/>
          <p:cNvSpPr>
            <a:spLocks noGrp="1"/>
          </p:cNvSpPr>
          <p:nvPr>
            <p:ph idx="1"/>
          </p:nvPr>
        </p:nvSpPr>
        <p:spPr>
          <a:xfrm>
            <a:off x="707365" y="1741714"/>
            <a:ext cx="10368951" cy="4702218"/>
          </a:xfrm>
        </p:spPr>
        <p:txBody>
          <a:bodyPr>
            <a:noAutofit/>
          </a:bodyPr>
          <a:lstStyle/>
          <a:p>
            <a:pPr marL="0" indent="269875">
              <a:lnSpc>
                <a:spcPct val="120000"/>
              </a:lnSpc>
              <a:spcBef>
                <a:spcPts val="600"/>
              </a:spcBef>
              <a:buNone/>
            </a:pPr>
            <a:endParaRPr lang="en-GB" dirty="0">
              <a:latin typeface="Times New Roman" panose="02020603050405020304" pitchFamily="18" charset="0"/>
              <a:cs typeface="Times New Roman" panose="02020603050405020304" pitchFamily="18" charset="0"/>
            </a:endParaRPr>
          </a:p>
          <a:p>
            <a:pPr marL="0" indent="269875">
              <a:lnSpc>
                <a:spcPct val="120000"/>
              </a:lnSpc>
              <a:spcBef>
                <a:spcPts val="600"/>
              </a:spcBef>
              <a:buNone/>
            </a:pPr>
            <a:r>
              <a:rPr lang="en-GB" b="1" dirty="0">
                <a:solidFill>
                  <a:schemeClr val="accent6">
                    <a:lumMod val="75000"/>
                  </a:schemeClr>
                </a:solidFill>
                <a:latin typeface="Times New Roman" panose="02020603050405020304" pitchFamily="18" charset="0"/>
                <a:cs typeface="Times New Roman" panose="02020603050405020304" pitchFamily="18" charset="0"/>
              </a:rPr>
              <a:t>Module 1:</a:t>
            </a:r>
            <a:r>
              <a:rPr lang="en-GB" b="1"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Data Collection &amp; ETL</a:t>
            </a:r>
          </a:p>
          <a:p>
            <a:pPr marL="0" indent="269875">
              <a:lnSpc>
                <a:spcPct val="120000"/>
              </a:lnSpc>
              <a:spcBef>
                <a:spcPts val="600"/>
              </a:spcBef>
              <a:buNone/>
            </a:pPr>
            <a:r>
              <a:rPr lang="en-GB" b="1" dirty="0">
                <a:solidFill>
                  <a:schemeClr val="accent5">
                    <a:lumMod val="75000"/>
                  </a:schemeClr>
                </a:solidFill>
                <a:latin typeface="Times New Roman" panose="02020603050405020304" pitchFamily="18" charset="0"/>
                <a:cs typeface="Times New Roman" panose="02020603050405020304" pitchFamily="18" charset="0"/>
              </a:rPr>
              <a:t>Module 2: </a:t>
            </a:r>
            <a:r>
              <a:rPr lang="en-IN" dirty="0">
                <a:latin typeface="Times New Roman" panose="02020603050405020304" pitchFamily="18" charset="0"/>
                <a:cs typeface="Times New Roman" panose="02020603050405020304" pitchFamily="18" charset="0"/>
              </a:rPr>
              <a:t>Data Warehouse Design</a:t>
            </a:r>
            <a:endParaRPr lang="en-GB" dirty="0">
              <a:latin typeface="Times New Roman" panose="02020603050405020304" pitchFamily="18" charset="0"/>
              <a:cs typeface="Times New Roman" panose="02020603050405020304" pitchFamily="18" charset="0"/>
            </a:endParaRPr>
          </a:p>
          <a:p>
            <a:pPr marL="0" indent="269875">
              <a:lnSpc>
                <a:spcPct val="120000"/>
              </a:lnSpc>
              <a:spcBef>
                <a:spcPts val="600"/>
              </a:spcBef>
              <a:buNone/>
            </a:pPr>
            <a:r>
              <a:rPr lang="en-GB" b="1" dirty="0">
                <a:solidFill>
                  <a:schemeClr val="accent4">
                    <a:lumMod val="75000"/>
                  </a:schemeClr>
                </a:solidFill>
                <a:latin typeface="Times New Roman" panose="02020603050405020304" pitchFamily="18" charset="0"/>
                <a:cs typeface="Times New Roman" panose="02020603050405020304" pitchFamily="18" charset="0"/>
              </a:rPr>
              <a:t>Module 3:</a:t>
            </a:r>
            <a:r>
              <a:rPr lang="en-GB"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Data Mining &amp; Placement Prediction</a:t>
            </a:r>
          </a:p>
          <a:p>
            <a:pPr marL="0" indent="269875">
              <a:lnSpc>
                <a:spcPct val="120000"/>
              </a:lnSpc>
              <a:spcBef>
                <a:spcPts val="600"/>
              </a:spcBef>
              <a:buNone/>
            </a:pPr>
            <a:r>
              <a:rPr lang="en-GB" b="1" dirty="0">
                <a:solidFill>
                  <a:srgbClr val="00B050"/>
                </a:solidFill>
                <a:latin typeface="Times New Roman" panose="02020603050405020304" pitchFamily="18" charset="0"/>
                <a:cs typeface="Times New Roman" panose="02020603050405020304" pitchFamily="18" charset="0"/>
              </a:rPr>
              <a:t>Module 4:</a:t>
            </a:r>
            <a:r>
              <a:rPr lang="en-GB" b="1"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Analytics &amp; Power BI Dashboard</a:t>
            </a:r>
          </a:p>
          <a:p>
            <a:pPr marL="0" indent="269875">
              <a:lnSpc>
                <a:spcPct val="120000"/>
              </a:lnSpc>
              <a:spcBef>
                <a:spcPts val="600"/>
              </a:spcBef>
              <a:buNone/>
            </a:pPr>
            <a:r>
              <a:rPr lang="en-GB" b="1" dirty="0">
                <a:solidFill>
                  <a:schemeClr val="accent2">
                    <a:lumMod val="75000"/>
                  </a:schemeClr>
                </a:solidFill>
                <a:latin typeface="Times New Roman" panose="02020603050405020304" pitchFamily="18" charset="0"/>
                <a:cs typeface="Times New Roman" panose="02020603050405020304" pitchFamily="18" charset="0"/>
              </a:rPr>
              <a:t>Module 5: </a:t>
            </a:r>
            <a:r>
              <a:rPr lang="en-IN" dirty="0">
                <a:latin typeface="Times New Roman" panose="02020603050405020304" pitchFamily="18" charset="0"/>
                <a:cs typeface="Times New Roman" panose="02020603050405020304" pitchFamily="18" charset="0"/>
              </a:rPr>
              <a:t>Web Application &amp; Reporting</a:t>
            </a:r>
          </a:p>
          <a:p>
            <a:pPr marL="0" indent="269875">
              <a:lnSpc>
                <a:spcPct val="120000"/>
              </a:lnSpc>
              <a:spcBef>
                <a:spcPts val="600"/>
              </a:spcBef>
              <a:buNone/>
            </a:pPr>
            <a:endParaRPr lang="en-GB" dirty="0">
              <a:latin typeface="Times New Roman" panose="02020603050405020304" pitchFamily="18" charset="0"/>
              <a:cs typeface="Times New Roman" panose="02020603050405020304" pitchFamily="18" charset="0"/>
            </a:endParaRPr>
          </a:p>
        </p:txBody>
      </p:sp>
      <p:pic>
        <p:nvPicPr>
          <p:cNvPr id="4" name="Picture 3"/>
          <p:cNvPicPr/>
          <p:nvPr/>
        </p:nvPicPr>
        <p:blipFill>
          <a:blip r:embed="rId2" cstate="print">
            <a:extLst>
              <a:ext uri="{28A0092B-C50C-407E-A947-70E740481C1C}">
                <a14:useLocalDpi xmlns:a14="http://schemas.microsoft.com/office/drawing/2010/main" val="0"/>
              </a:ext>
            </a:extLst>
          </a:blip>
          <a:srcRect/>
          <a:stretch>
            <a:fillRect/>
          </a:stretch>
        </p:blipFill>
        <p:spPr>
          <a:xfrm>
            <a:off x="357352" y="191626"/>
            <a:ext cx="1135117" cy="1342884"/>
          </a:xfrm>
          <a:prstGeom prst="rect">
            <a:avLst/>
          </a:prstGeom>
          <a:noFill/>
        </p:spPr>
      </p:pic>
      <p:pic>
        <p:nvPicPr>
          <p:cNvPr id="5" name="Picture 4"/>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191626"/>
            <a:ext cx="1520114" cy="134288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857500"/>
            <a:ext cx="10972800" cy="1143000"/>
          </a:xfrm>
        </p:spPr>
        <p:txBody>
          <a:bodyPr>
            <a:normAutofit/>
          </a:bodyPr>
          <a:lstStyle/>
          <a:p>
            <a:r>
              <a:rPr sz="6600" dirty="0">
                <a:latin typeface="Arial Rounded MT Bold" panose="020F0704030504030204" pitchFamily="34" charset="0"/>
              </a:rPr>
              <a:t>Thank You</a:t>
            </a:r>
            <a:r>
              <a:rPr lang="en-US" sz="6600" dirty="0">
                <a:latin typeface="Arial Rounded MT Bold" panose="020F0704030504030204" pitchFamily="34" charset="0"/>
              </a:rPr>
              <a:t> </a:t>
            </a:r>
            <a:r>
              <a:rPr sz="6600" dirty="0">
                <a:latin typeface="Arial Rounded MT Bold" panose="020F0704030504030204" pitchFamily="34" charset="0"/>
              </a:rP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567</TotalTime>
  <Words>639</Words>
  <Application>Microsoft Office PowerPoint</Application>
  <PresentationFormat>Widescreen</PresentationFormat>
  <Paragraphs>74</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Arial Rounded MT Bold</vt:lpstr>
      <vt:lpstr>Calibri</vt:lpstr>
      <vt:lpstr>Times New Roman</vt:lpstr>
      <vt:lpstr>Office Theme</vt:lpstr>
      <vt:lpstr>SkillLens: Student Placement Intelligence System Using Data Warehousing and Data Mining</vt:lpstr>
      <vt:lpstr>INTRODUCTION</vt:lpstr>
      <vt:lpstr>OBJECTIVE</vt:lpstr>
      <vt:lpstr>PowerPoint Presentation</vt:lpstr>
      <vt:lpstr>LITERATURE REVIEW</vt:lpstr>
      <vt:lpstr>ARCHITECTURE DIAGRAM</vt:lpstr>
      <vt:lpstr>LIST OF MODULES</vt:lpstr>
      <vt:lpstr>Thank You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Capstone Project Title</dc:title>
  <dc:subject/>
  <dc:creator>sankar</dc:creator>
  <cp:keywords/>
  <dc:description>generated using python-pptx</dc:description>
  <cp:lastModifiedBy>Haresh kumar</cp:lastModifiedBy>
  <cp:revision>45</cp:revision>
  <dcterms:created xsi:type="dcterms:W3CDTF">2013-01-27T09:14:16Z</dcterms:created>
  <dcterms:modified xsi:type="dcterms:W3CDTF">2026-08-01T06:24:29Z</dcterms:modified>
  <cp:category/>
</cp:coreProperties>
</file>